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77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9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9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9.png"/><Relationship Id="rId9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9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8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21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4" Type="http://schemas.openxmlformats.org/officeDocument/2006/relationships/image" Target="../media/image9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8.png"/><Relationship Id="rId21" Type="http://schemas.openxmlformats.org/officeDocument/2006/relationships/image" Target="../media/image96.png"/><Relationship Id="rId7" Type="http://schemas.openxmlformats.org/officeDocument/2006/relationships/image" Target="../media/image48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51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105.png"/><Relationship Id="rId3" Type="http://schemas.openxmlformats.org/officeDocument/2006/relationships/image" Target="../media/image9.png"/><Relationship Id="rId7" Type="http://schemas.openxmlformats.org/officeDocument/2006/relationships/image" Target="../media/image101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48.png"/><Relationship Id="rId5" Type="http://schemas.openxmlformats.org/officeDocument/2006/relationships/image" Target="../media/image99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Relationship Id="rId14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9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8.png"/><Relationship Id="rId21" Type="http://schemas.openxmlformats.org/officeDocument/2006/relationships/image" Target="../media/image139.png"/><Relationship Id="rId7" Type="http://schemas.openxmlformats.org/officeDocument/2006/relationships/image" Target="../media/image126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85.png"/><Relationship Id="rId5" Type="http://schemas.openxmlformats.org/officeDocument/2006/relationships/image" Target="../media/image21.png"/><Relationship Id="rId15" Type="http://schemas.openxmlformats.org/officeDocument/2006/relationships/image" Target="../media/image133.png"/><Relationship Id="rId10" Type="http://schemas.openxmlformats.org/officeDocument/2006/relationships/image" Target="../media/image129.png"/><Relationship Id="rId19" Type="http://schemas.openxmlformats.org/officeDocument/2006/relationships/image" Target="../media/image137.png"/><Relationship Id="rId4" Type="http://schemas.openxmlformats.org/officeDocument/2006/relationships/image" Target="../media/image9.png"/><Relationship Id="rId9" Type="http://schemas.openxmlformats.org/officeDocument/2006/relationships/image" Target="../media/image128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9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8.png"/><Relationship Id="rId7" Type="http://schemas.openxmlformats.org/officeDocument/2006/relationships/image" Target="../media/image153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6.png"/><Relationship Id="rId5" Type="http://schemas.openxmlformats.org/officeDocument/2006/relationships/image" Target="../media/image151.png"/><Relationship Id="rId15" Type="http://schemas.openxmlformats.org/officeDocument/2006/relationships/image" Target="../media/image160.png"/><Relationship Id="rId10" Type="http://schemas.openxmlformats.org/officeDocument/2006/relationships/image" Target="../media/image87.png"/><Relationship Id="rId4" Type="http://schemas.openxmlformats.org/officeDocument/2006/relationships/image" Target="../media/image9.png"/><Relationship Id="rId9" Type="http://schemas.openxmlformats.org/officeDocument/2006/relationships/image" Target="../media/image155.png"/><Relationship Id="rId14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7.png"/><Relationship Id="rId3" Type="http://schemas.openxmlformats.org/officeDocument/2006/relationships/image" Target="../media/image8.png"/><Relationship Id="rId7" Type="http://schemas.openxmlformats.org/officeDocument/2006/relationships/image" Target="../media/image46.png"/><Relationship Id="rId12" Type="http://schemas.openxmlformats.org/officeDocument/2006/relationships/image" Target="../media/image1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11" Type="http://schemas.openxmlformats.org/officeDocument/2006/relationships/image" Target="../media/image132.png"/><Relationship Id="rId5" Type="http://schemas.openxmlformats.org/officeDocument/2006/relationships/image" Target="../media/image21.png"/><Relationship Id="rId15" Type="http://schemas.openxmlformats.org/officeDocument/2006/relationships/image" Target="../media/image169.png"/><Relationship Id="rId10" Type="http://schemas.openxmlformats.org/officeDocument/2006/relationships/image" Target="../media/image83.png"/><Relationship Id="rId4" Type="http://schemas.openxmlformats.org/officeDocument/2006/relationships/image" Target="../media/image9.png"/><Relationship Id="rId9" Type="http://schemas.openxmlformats.org/officeDocument/2006/relationships/image" Target="../media/image166.png"/><Relationship Id="rId14" Type="http://schemas.openxmlformats.org/officeDocument/2006/relationships/image" Target="../media/image16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8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21.png"/><Relationship Id="rId10" Type="http://schemas.openxmlformats.org/officeDocument/2006/relationships/image" Target="../media/image174.png"/><Relationship Id="rId4" Type="http://schemas.openxmlformats.org/officeDocument/2006/relationships/image" Target="../media/image9.png"/><Relationship Id="rId9" Type="http://schemas.openxmlformats.org/officeDocument/2006/relationships/image" Target="../media/image17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2.png"/><Relationship Id="rId18" Type="http://schemas.openxmlformats.org/officeDocument/2006/relationships/image" Target="../media/image187.png"/><Relationship Id="rId3" Type="http://schemas.openxmlformats.org/officeDocument/2006/relationships/image" Target="../media/image8.png"/><Relationship Id="rId7" Type="http://schemas.openxmlformats.org/officeDocument/2006/relationships/image" Target="../media/image177.png"/><Relationship Id="rId12" Type="http://schemas.openxmlformats.org/officeDocument/2006/relationships/image" Target="../media/image181.png"/><Relationship Id="rId17" Type="http://schemas.openxmlformats.org/officeDocument/2006/relationships/image" Target="../media/image18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0.png"/><Relationship Id="rId5" Type="http://schemas.openxmlformats.org/officeDocument/2006/relationships/image" Target="../media/image175.png"/><Relationship Id="rId15" Type="http://schemas.openxmlformats.org/officeDocument/2006/relationships/image" Target="../media/image184.png"/><Relationship Id="rId10" Type="http://schemas.openxmlformats.org/officeDocument/2006/relationships/image" Target="../media/image106.png"/><Relationship Id="rId19" Type="http://schemas.openxmlformats.org/officeDocument/2006/relationships/image" Target="../media/image188.png"/><Relationship Id="rId4" Type="http://schemas.openxmlformats.org/officeDocument/2006/relationships/image" Target="../media/image9.png"/><Relationship Id="rId9" Type="http://schemas.openxmlformats.org/officeDocument/2006/relationships/image" Target="../media/image179.png"/><Relationship Id="rId14" Type="http://schemas.openxmlformats.org/officeDocument/2006/relationships/image" Target="../media/image1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6.png"/><Relationship Id="rId18" Type="http://schemas.openxmlformats.org/officeDocument/2006/relationships/image" Target="../media/image200.png"/><Relationship Id="rId3" Type="http://schemas.openxmlformats.org/officeDocument/2006/relationships/image" Target="../media/image8.png"/><Relationship Id="rId7" Type="http://schemas.openxmlformats.org/officeDocument/2006/relationships/image" Target="../media/image190.png"/><Relationship Id="rId12" Type="http://schemas.openxmlformats.org/officeDocument/2006/relationships/image" Target="../media/image195.png"/><Relationship Id="rId17" Type="http://schemas.openxmlformats.org/officeDocument/2006/relationships/image" Target="../media/image19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5" Type="http://schemas.openxmlformats.org/officeDocument/2006/relationships/image" Target="../media/image51.png"/><Relationship Id="rId15" Type="http://schemas.openxmlformats.org/officeDocument/2006/relationships/image" Target="../media/image198.png"/><Relationship Id="rId10" Type="http://schemas.openxmlformats.org/officeDocument/2006/relationships/image" Target="../media/image193.png"/><Relationship Id="rId4" Type="http://schemas.openxmlformats.org/officeDocument/2006/relationships/image" Target="../media/image9.png"/><Relationship Id="rId9" Type="http://schemas.openxmlformats.org/officeDocument/2006/relationships/image" Target="../media/image192.png"/><Relationship Id="rId14" Type="http://schemas.openxmlformats.org/officeDocument/2006/relationships/image" Target="../media/image19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3" Type="http://schemas.openxmlformats.org/officeDocument/2006/relationships/image" Target="../media/image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1.png"/><Relationship Id="rId10" Type="http://schemas.openxmlformats.org/officeDocument/2006/relationships/image" Target="../media/image205.png"/><Relationship Id="rId4" Type="http://schemas.openxmlformats.org/officeDocument/2006/relationships/image" Target="../media/image9.png"/><Relationship Id="rId9" Type="http://schemas.openxmlformats.org/officeDocument/2006/relationships/image" Target="../media/image204.png"/><Relationship Id="rId14" Type="http://schemas.openxmlformats.org/officeDocument/2006/relationships/image" Target="../media/image2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7.png"/><Relationship Id="rId3" Type="http://schemas.openxmlformats.org/officeDocument/2006/relationships/image" Target="../media/image8.png"/><Relationship Id="rId7" Type="http://schemas.openxmlformats.org/officeDocument/2006/relationships/image" Target="../media/image211.png"/><Relationship Id="rId12" Type="http://schemas.openxmlformats.org/officeDocument/2006/relationships/image" Target="../media/image21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215.png"/><Relationship Id="rId5" Type="http://schemas.openxmlformats.org/officeDocument/2006/relationships/image" Target="../media/image21.png"/><Relationship Id="rId15" Type="http://schemas.openxmlformats.org/officeDocument/2006/relationships/image" Target="../media/image219.png"/><Relationship Id="rId10" Type="http://schemas.openxmlformats.org/officeDocument/2006/relationships/image" Target="../media/image214.png"/><Relationship Id="rId4" Type="http://schemas.openxmlformats.org/officeDocument/2006/relationships/image" Target="../media/image9.png"/><Relationship Id="rId9" Type="http://schemas.openxmlformats.org/officeDocument/2006/relationships/image" Target="../media/image213.png"/><Relationship Id="rId14" Type="http://schemas.openxmlformats.org/officeDocument/2006/relationships/image" Target="../media/image2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66.png"/><Relationship Id="rId18" Type="http://schemas.openxmlformats.org/officeDocument/2006/relationships/image" Target="../media/image227.png"/><Relationship Id="rId3" Type="http://schemas.openxmlformats.org/officeDocument/2006/relationships/image" Target="../media/image8.png"/><Relationship Id="rId7" Type="http://schemas.openxmlformats.org/officeDocument/2006/relationships/image" Target="../media/image83.png"/><Relationship Id="rId12" Type="http://schemas.openxmlformats.org/officeDocument/2006/relationships/image" Target="../media/image222.png"/><Relationship Id="rId17" Type="http://schemas.openxmlformats.org/officeDocument/2006/relationships/image" Target="../media/image226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11" Type="http://schemas.openxmlformats.org/officeDocument/2006/relationships/image" Target="../media/image138.png"/><Relationship Id="rId5" Type="http://schemas.openxmlformats.org/officeDocument/2006/relationships/image" Target="../media/image51.png"/><Relationship Id="rId15" Type="http://schemas.openxmlformats.org/officeDocument/2006/relationships/image" Target="../media/image224.png"/><Relationship Id="rId10" Type="http://schemas.openxmlformats.org/officeDocument/2006/relationships/image" Target="../media/image221.png"/><Relationship Id="rId19" Type="http://schemas.openxmlformats.org/officeDocument/2006/relationships/image" Target="../media/image228.png"/><Relationship Id="rId4" Type="http://schemas.openxmlformats.org/officeDocument/2006/relationships/image" Target="../media/image9.png"/><Relationship Id="rId9" Type="http://schemas.openxmlformats.org/officeDocument/2006/relationships/image" Target="../media/image132.png"/><Relationship Id="rId14" Type="http://schemas.openxmlformats.org/officeDocument/2006/relationships/image" Target="../media/image2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414" y="3682637"/>
            <a:ext cx="4715024" cy="1143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451" y="563880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251" y="56388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051" y="56388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6851" y="5638800"/>
            <a:ext cx="152400" cy="1524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-679475" y="2114550"/>
            <a:ext cx="135508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</a:t>
            </a:r>
            <a:r>
              <a:rPr lang="en-US" sz="3600" b="1" dirty="0" smtClean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449759" y="2724150"/>
            <a:ext cx="1129233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10" name="Text 2"/>
          <p:cNvSpPr/>
          <p:nvPr/>
        </p:nvSpPr>
        <p:spPr>
          <a:xfrm>
            <a:off x="3541231" y="3187881"/>
            <a:ext cx="51093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latin typeface="Montserrat" pitchFamily="2" charset="0"/>
              </a:rPr>
              <a:t>Master in </a:t>
            </a:r>
            <a:r>
              <a:rPr lang="en-US" sz="1500" dirty="0" err="1" smtClean="0">
                <a:latin typeface="Montserrat" pitchFamily="2" charset="0"/>
              </a:rPr>
              <a:t>Artificiel</a:t>
            </a:r>
            <a:r>
              <a:rPr lang="en-US" sz="1500" dirty="0" smtClean="0">
                <a:latin typeface="Montserrat" pitchFamily="2" charset="0"/>
              </a:rPr>
              <a:t> </a:t>
            </a:r>
            <a:r>
              <a:rPr lang="en-US" sz="1500" dirty="0" err="1" smtClean="0">
                <a:latin typeface="Montserrat" pitchFamily="2" charset="0"/>
              </a:rPr>
              <a:t>lntelligence</a:t>
            </a:r>
            <a:endParaRPr lang="en-US" sz="1500" dirty="0">
              <a:latin typeface="Montserrat" pitchFamily="2" charset="0"/>
            </a:endParaRPr>
          </a:p>
          <a:p>
            <a:pPr algn="ctr">
              <a:lnSpc>
                <a:spcPts val="2100"/>
              </a:lnSpc>
            </a:pPr>
            <a:r>
              <a:rPr lang="en-US" sz="1500" dirty="0">
                <a:latin typeface="Montserrat" pitchFamily="2" charset="0"/>
              </a:rPr>
              <a:t>Supervisor:  Dr.  ÖZLEM  FEYZA  ERKAN</a:t>
            </a:r>
          </a:p>
          <a:p>
            <a:pPr algn="ctr">
              <a:lnSpc>
                <a:spcPts val="2100"/>
              </a:lnSpc>
            </a:pPr>
            <a:r>
              <a:rPr lang="en-US" sz="1500" dirty="0" err="1">
                <a:latin typeface="Montserrat" pitchFamily="2" charset="0"/>
              </a:rPr>
              <a:t>Beykoz</a:t>
            </a:r>
            <a:r>
              <a:rPr lang="en-US" sz="1500" dirty="0">
                <a:latin typeface="Montserrat" pitchFamily="2" charset="0"/>
              </a:rPr>
              <a:t>  </a:t>
            </a:r>
            <a:r>
              <a:rPr lang="en-US" sz="1500" dirty="0" smtClean="0">
                <a:latin typeface="Montserrat" pitchFamily="2" charset="0"/>
              </a:rPr>
              <a:t>University</a:t>
            </a:r>
            <a:endParaRPr lang="en-US" sz="1500" dirty="0">
              <a:latin typeface="Montserrat" pitchFamily="2" charset="0"/>
            </a:endParaRPr>
          </a:p>
          <a:p>
            <a:pPr algn="ctr">
              <a:lnSpc>
                <a:spcPts val="2100"/>
              </a:lnSpc>
            </a:pPr>
            <a:endParaRPr lang="en-US" sz="1500" dirty="0"/>
          </a:p>
          <a:p>
            <a:pPr algn="ctr">
              <a:lnSpc>
                <a:spcPts val="2100"/>
              </a:lnSpc>
            </a:pPr>
            <a:r>
              <a:rPr lang="en-US" sz="1500" dirty="0"/>
              <a:t>January  2026</a:t>
            </a:r>
          </a:p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3541231" y="4248150"/>
            <a:ext cx="51093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350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613" y="4672012"/>
            <a:ext cx="1666875" cy="166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11430000" cy="487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859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3" y="16192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860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24193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0861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963" y="321945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800" y="38862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38862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7800" y="44577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457700"/>
            <a:ext cx="171450" cy="2667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This System For?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1409700" y="1638300"/>
            <a:ext cx="57667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doctors find out what sickness a patient has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409700" y="2438400"/>
            <a:ext cx="640312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two main ways: 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1409700" y="3238500"/>
            <a:ext cx="53044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doctors make better choices when they: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752600" y="3886200"/>
            <a:ext cx="297876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Don't have all information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6858000" y="3886200"/>
            <a:ext cx="26160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Need to decide quickly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1752600" y="4457700"/>
            <a:ext cx="26528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Face similar sicknesses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6838950" y="4457700"/>
            <a:ext cx="28385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Want to reduce mistakes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28800"/>
            <a:ext cx="3505200" cy="14668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4075" y="19812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2663" y="2085975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1828800"/>
            <a:ext cx="3505200" cy="14668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7875" y="19812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0" y="20859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1828800"/>
            <a:ext cx="3505200" cy="14668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1675" y="1981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0738" y="2085975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39052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7950" y="39052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6301" y="3905250"/>
            <a:ext cx="200025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This Research is Important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09600" y="13335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research wants to: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269504" y="2571750"/>
            <a:ext cx="26224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Diagnosis Better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742727" y="2914650"/>
            <a:ext cx="3238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 doctors find the right sickness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541615" y="2571750"/>
            <a:ext cx="133034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 Faster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4527947" y="2914650"/>
            <a:ext cx="31361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 patients the right help quickly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873877" y="2571750"/>
            <a:ext cx="22940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Healthcare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8232815" y="2914650"/>
            <a:ext cx="31939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medical systems work better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09600" y="352425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Our System Helps: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952500" y="3924300"/>
            <a:ext cx="37463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AI that doctors can understand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4660850" y="3924300"/>
            <a:ext cx="3573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doctors make better choices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8340626" y="3924300"/>
            <a:ext cx="38195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doctors understand sicknesses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81100"/>
            <a:ext cx="5562600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097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571625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181100"/>
            <a:ext cx="5562600" cy="2286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409700"/>
            <a:ext cx="666750" cy="666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1571625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771900"/>
            <a:ext cx="5562600" cy="2286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000500"/>
            <a:ext cx="666750" cy="666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4162425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771900"/>
            <a:ext cx="5562600" cy="2286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000500"/>
            <a:ext cx="666750" cy="666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6550" y="4162425"/>
            <a:ext cx="247650" cy="3429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Problems Doctors Face Every Day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466850" y="1409700"/>
            <a:ext cx="5097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Information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466850" y="1790700"/>
            <a:ext cx="42481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Doctors sometimes don't have all the patient's details. This can make it hard to know what is wrong.</a:t>
            </a:r>
            <a:endParaRPr lang="en-US" sz="1350" dirty="0"/>
          </a:p>
        </p:txBody>
      </p:sp>
      <p:sp>
        <p:nvSpPr>
          <p:cNvPr id="19" name="Text 3"/>
          <p:cNvSpPr/>
          <p:nvPr/>
        </p:nvSpPr>
        <p:spPr>
          <a:xfrm>
            <a:off x="7334250" y="1409700"/>
            <a:ext cx="42481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Time</a:t>
            </a:r>
            <a:endParaRPr lang="en-US" sz="1800" dirty="0"/>
          </a:p>
        </p:txBody>
      </p:sp>
      <p:sp>
        <p:nvSpPr>
          <p:cNvPr id="20" name="Text 4"/>
          <p:cNvSpPr/>
          <p:nvPr/>
        </p:nvSpPr>
        <p:spPr>
          <a:xfrm>
            <a:off x="7334250" y="1790700"/>
            <a:ext cx="424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Doctors often need to make quick decisions. They can't take all the time they want.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1466850" y="4000500"/>
            <a:ext cx="5097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 Sicknesses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1466850" y="4381500"/>
            <a:ext cx="424815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Many sicknesses have signs that look the same. This makes it hard to tell which sickness a patient has.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7334250" y="4000500"/>
            <a:ext cx="42481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Human Mistakes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7334250" y="4381500"/>
            <a:ext cx="4248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 good doctors can make mistakes. This can happen when they are tired or stressed.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26" name="Text 10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00200"/>
            <a:ext cx="56007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7526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8573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00200"/>
            <a:ext cx="560070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17526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9388" y="1857375"/>
            <a:ext cx="1428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238500"/>
            <a:ext cx="5600700" cy="1409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909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088" y="3495675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238500"/>
            <a:ext cx="5600700" cy="1409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2700" y="33909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1763" y="3495675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953000"/>
            <a:ext cx="11430000" cy="5715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Questions We Want to Answer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want to make AI systems that help doctors diagnose patients better. Here are the four main questions: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162050" y="17526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1: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162050" y="20574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AI systems be more correct in finding sicknesses?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1162050" y="2628900"/>
            <a:ext cx="466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Diagnostic Accuracy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6991350" y="17526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2: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6991350" y="20574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AI systems work faster without making more mistakes?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6991350" y="2628900"/>
            <a:ext cx="466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Prediction Speed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1162050" y="33909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3: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1162050" y="36957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we make AI decisions easier for doctors to understand?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162050" y="4267200"/>
            <a:ext cx="466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991350" y="3390900"/>
            <a:ext cx="466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4: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6991350" y="3695700"/>
            <a:ext cx="46672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AI systems work well for different patients and medical situations?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6991350" y="4267200"/>
            <a:ext cx="4667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Adaptation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533400" y="5105400"/>
            <a:ext cx="1335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Idea: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New systems that mix smart computer learning with known rules will work better than old systems.</a:t>
            </a:r>
            <a:endParaRPr lang="en-US" sz="1350" dirty="0"/>
          </a:p>
        </p:txBody>
      </p:sp>
      <p:sp>
        <p:nvSpPr>
          <p:cNvPr id="32" name="Text 15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3" name="Text 16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907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63" y="18954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2415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87" y="2828925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6576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37623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5910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4695825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495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790700"/>
            <a:ext cx="249555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19431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86850" y="1790700"/>
            <a:ext cx="2495550" cy="1219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250" y="19431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162300"/>
            <a:ext cx="2495550" cy="1219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33147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6850" y="3162300"/>
            <a:ext cx="2495550" cy="1219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250" y="3314700"/>
            <a:ext cx="2857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We Did This Research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09600" y="13335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</a:t>
            </a:r>
            <a:r>
              <a:rPr lang="en-US" sz="1800" b="1" dirty="0" smtClean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</a:t>
            </a: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428750" y="1895475"/>
            <a:ext cx="28012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</a:t>
            </a:r>
            <a:r>
              <a:rPr lang="en-US" sz="1500" b="1" dirty="0" smtClean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used 250 patients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447800" y="2343150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collected information from 250 patients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1428750" y="2828925"/>
            <a:ext cx="27253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checked 9 details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1447800" y="3276600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looked at 9 important patient details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1428750" y="3762375"/>
            <a:ext cx="34857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looked for 4 sicknesses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447800" y="4210050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searched for 4 types of sicknesses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1428750" y="4695825"/>
            <a:ext cx="29603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compared methods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1447800" y="5143500"/>
            <a:ext cx="5166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used two groups: control and test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438900" y="13335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We Measured Success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6934200" y="1962150"/>
            <a:ext cx="11622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6591300" y="2324100"/>
            <a:ext cx="2190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often the system is right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9582150" y="1962150"/>
            <a:ext cx="118354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9239250" y="2324100"/>
            <a:ext cx="2190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exact the system's predictions are</a:t>
            </a:r>
            <a:endParaRPr lang="en-US" sz="1350" dirty="0"/>
          </a:p>
        </p:txBody>
      </p:sp>
      <p:sp>
        <p:nvSpPr>
          <p:cNvPr id="37" name="Text 15"/>
          <p:cNvSpPr/>
          <p:nvPr/>
        </p:nvSpPr>
        <p:spPr>
          <a:xfrm>
            <a:off x="6934200" y="3333750"/>
            <a:ext cx="7775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Recall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6591300" y="3695700"/>
            <a:ext cx="2190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well the system finds all sicknesses</a:t>
            </a:r>
            <a:endParaRPr lang="en-US" sz="1350" dirty="0"/>
          </a:p>
        </p:txBody>
      </p:sp>
      <p:sp>
        <p:nvSpPr>
          <p:cNvPr id="39" name="Text 17"/>
          <p:cNvSpPr/>
          <p:nvPr/>
        </p:nvSpPr>
        <p:spPr>
          <a:xfrm>
            <a:off x="9639300" y="3333750"/>
            <a:ext cx="11351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F1-Score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9239250" y="3695700"/>
            <a:ext cx="2190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mix of precision and recall</a:t>
            </a:r>
            <a:endParaRPr lang="en-US" sz="1350" dirty="0"/>
          </a:p>
        </p:txBody>
      </p:sp>
      <p:sp>
        <p:nvSpPr>
          <p:cNvPr id="41" name="Text 19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1026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52600"/>
            <a:ext cx="2743200" cy="24479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825" y="1943100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1663" y="2105025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51472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8195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5250" y="2814638"/>
            <a:ext cx="2667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4400" y="1333500"/>
            <a:ext cx="2743200" cy="32861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625" y="1524000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53125" y="1685925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3286125"/>
            <a:ext cx="23622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3895725"/>
            <a:ext cx="23622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0050" y="2814638"/>
            <a:ext cx="2667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9200" y="1752600"/>
            <a:ext cx="2743200" cy="24479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7425" y="1943100"/>
            <a:ext cx="666750" cy="666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8875" y="2105025"/>
            <a:ext cx="3238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29700" y="3514725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29700" y="3819525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4924425"/>
            <a:ext cx="109728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94323" y="510540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Our System Works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563880" y="2752725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Layer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563880" y="3133725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Collects patient information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990600" y="3476625"/>
            <a:ext cx="13744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028700" y="3781425"/>
            <a:ext cx="14101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Lab test results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4678680" y="2333625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4914900" y="2714625"/>
            <a:ext cx="2362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 two smart computer brains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4991100" y="3362325"/>
            <a:ext cx="2651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 Engine</a:t>
            </a:r>
            <a:endParaRPr lang="en-US" sz="1050" dirty="0"/>
          </a:p>
        </p:txBody>
      </p:sp>
      <p:sp>
        <p:nvSpPr>
          <p:cNvPr id="32" name="Text 8"/>
          <p:cNvSpPr/>
          <p:nvPr/>
        </p:nvSpPr>
        <p:spPr>
          <a:xfrm>
            <a:off x="4991100" y="3552825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diagnosis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4991100" y="3971925"/>
            <a:ext cx="2651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Engine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4991100" y="4162425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treatment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8793480" y="2752725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 Layer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8793480" y="3133725"/>
            <a:ext cx="2834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Shows results to doctors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9277350" y="3476625"/>
            <a:ext cx="17146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Sickness diagnosis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239250" y="3781425"/>
            <a:ext cx="20854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Treatment suggestions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-304800" y="5076825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Information moves through the system and learns from experience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of 20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88" y="1438275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96215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066925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5908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663" y="269557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2194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324225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848100"/>
            <a:ext cx="51435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495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2057400"/>
            <a:ext cx="5143500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352800"/>
            <a:ext cx="1663601" cy="1066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8788" y="3429000"/>
            <a:ext cx="1238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78701" y="3352800"/>
            <a:ext cx="166375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15251" y="34290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18650" y="3352800"/>
            <a:ext cx="1663750" cy="1066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55201" y="34290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4572000"/>
            <a:ext cx="5143500" cy="495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714875"/>
            <a:ext cx="190500" cy="1714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 System Explained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238250" y="1438275"/>
            <a:ext cx="33886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 thinks like people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238250" y="2066925"/>
            <a:ext cx="51136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Understands "a little bit" or "somewhat" sick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1238250" y="2695575"/>
            <a:ext cx="51156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just "yes" or "no" - uses degrees of truth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1238250" y="3324225"/>
            <a:ext cx="34093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numbers from 0.0 to 1.0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723900" y="3962400"/>
            <a:ext cx="5897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= "not true" | </a:t>
            </a: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1.0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= "very true"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6438900" y="13335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Fever Example</a:t>
            </a:r>
            <a:endParaRPr lang="en-US" sz="1800" dirty="0"/>
          </a:p>
        </p:txBody>
      </p:sp>
      <p:sp>
        <p:nvSpPr>
          <p:cNvPr id="31" name="Text 7"/>
          <p:cNvSpPr/>
          <p:nvPr/>
        </p:nvSpPr>
        <p:spPr>
          <a:xfrm>
            <a:off x="6438900" y="1752600"/>
            <a:ext cx="13726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Temperature: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11158686" y="1752600"/>
            <a:ext cx="5084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39°C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6363980" y="3733800"/>
            <a:ext cx="18134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Fuzzification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363980" y="3962400"/>
            <a:ext cx="18134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39°C → "High Fever"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8103766" y="3733800"/>
            <a:ext cx="1813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 Evaluation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8103766" y="3962400"/>
            <a:ext cx="1813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Fever is High...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9843715" y="3733800"/>
            <a:ext cx="1813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Defuzzification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994850" y="3962400"/>
            <a:ext cx="1511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"High Fever" → Decision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6819900" y="4686300"/>
            <a:ext cx="5897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Fuzzy Logic is good at handling unclear information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of 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888" y="1191441"/>
            <a:ext cx="7819579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7907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563" y="184785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3622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24193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9337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29908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290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663" y="3486150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9243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39814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67279" y="1685925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0187" y="2905125"/>
            <a:ext cx="952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System Explained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609600" y="13335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Decision Trees Work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1133475" y="1847850"/>
            <a:ext cx="51933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like a flowchart with questions and answers</a:t>
            </a:r>
            <a:endParaRPr lang="en-US" sz="1350" dirty="0"/>
          </a:p>
        </p:txBody>
      </p:sp>
      <p:sp>
        <p:nvSpPr>
          <p:cNvPr id="36" name="Text 3"/>
          <p:cNvSpPr/>
          <p:nvPr/>
        </p:nvSpPr>
        <p:spPr>
          <a:xfrm>
            <a:off x="1133475" y="2286000"/>
            <a:ext cx="450532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 </a:t>
            </a: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nodes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(questions), </a:t>
            </a: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branches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(answers), and </a:t>
            </a: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leaves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(final diagnosis)</a:t>
            </a:r>
            <a:endParaRPr lang="en-US" sz="1350" dirty="0"/>
          </a:p>
        </p:txBody>
      </p:sp>
      <p:sp>
        <p:nvSpPr>
          <p:cNvPr id="37" name="Text 4"/>
          <p:cNvSpPr/>
          <p:nvPr/>
        </p:nvSpPr>
        <p:spPr>
          <a:xfrm>
            <a:off x="1133475" y="2990850"/>
            <a:ext cx="37265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path from start to leaf is a rule</a:t>
            </a:r>
            <a:endParaRPr lang="en-US" sz="1350" dirty="0"/>
          </a:p>
        </p:txBody>
      </p:sp>
      <p:sp>
        <p:nvSpPr>
          <p:cNvPr id="38" name="Text 5"/>
          <p:cNvSpPr/>
          <p:nvPr/>
        </p:nvSpPr>
        <p:spPr>
          <a:xfrm>
            <a:off x="1133475" y="3486150"/>
            <a:ext cx="45112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Shows the steps it takes to make a decision</a:t>
            </a:r>
            <a:endParaRPr lang="en-US" sz="1350" dirty="0"/>
          </a:p>
        </p:txBody>
      </p:sp>
      <p:sp>
        <p:nvSpPr>
          <p:cNvPr id="39" name="Text 6"/>
          <p:cNvSpPr/>
          <p:nvPr/>
        </p:nvSpPr>
        <p:spPr>
          <a:xfrm>
            <a:off x="1133475" y="3981450"/>
            <a:ext cx="37261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Learns from many patient examples</a:t>
            </a:r>
            <a:endParaRPr lang="en-US" sz="1350" dirty="0"/>
          </a:p>
        </p:txBody>
      </p:sp>
      <p:sp>
        <p:nvSpPr>
          <p:cNvPr id="40" name="Text 7"/>
          <p:cNvSpPr/>
          <p:nvPr/>
        </p:nvSpPr>
        <p:spPr>
          <a:xfrm>
            <a:off x="7970520" y="1562100"/>
            <a:ext cx="219456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7048500" y="2781300"/>
            <a:ext cx="1524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Fever?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9410700" y="2781300"/>
            <a:ext cx="182880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5867400" y="1562100"/>
            <a:ext cx="13716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9410700" y="4229100"/>
            <a:ext cx="1645920" cy="647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7467600" y="2960370"/>
            <a:ext cx="13716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10977860" y="6286500"/>
            <a:ext cx="999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of 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43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314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10477500" cy="2381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943350"/>
            <a:ext cx="2072580" cy="2247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191000"/>
            <a:ext cx="305544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65" y="5467350"/>
            <a:ext cx="2476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580" y="3943350"/>
            <a:ext cx="2072580" cy="2247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6980" y="4191000"/>
            <a:ext cx="249734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7996" y="54673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9561" y="3943350"/>
            <a:ext cx="2072729" cy="2247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1961" y="4191000"/>
            <a:ext cx="292745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52976" y="523875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4690" y="3943350"/>
            <a:ext cx="2072580" cy="2247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7090" y="4191000"/>
            <a:ext cx="33531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7155" y="569595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671" y="3943350"/>
            <a:ext cx="2072729" cy="2247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62071" y="4191000"/>
            <a:ext cx="328315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64986" y="5695950"/>
            <a:ext cx="36195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Decision Tree Learns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861715" y="4191000"/>
            <a:ext cx="30554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"/>
          <p:cNvSpPr/>
          <p:nvPr/>
        </p:nvSpPr>
        <p:spPr>
          <a:xfrm>
            <a:off x="1181844" y="4095750"/>
            <a:ext cx="134793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 Data Ready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762000" y="4705350"/>
            <a:ext cx="17677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takes patient information and prepares it for learning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3058716" y="4191000"/>
            <a:ext cx="2996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3351014" y="4095750"/>
            <a:ext cx="140374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 Best Details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2986980" y="4705350"/>
            <a:ext cx="17677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Finds most important patient details to use for decisions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5305276" y="4191000"/>
            <a:ext cx="35129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5619006" y="4095750"/>
            <a:ext cx="136088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 Split Points</a:t>
            </a:r>
            <a:endParaRPr lang="en-US" sz="1350" dirty="0"/>
          </a:p>
        </p:txBody>
      </p:sp>
      <p:sp>
        <p:nvSpPr>
          <p:cNvPr id="30" name="Text 9"/>
          <p:cNvSpPr/>
          <p:nvPr/>
        </p:nvSpPr>
        <p:spPr>
          <a:xfrm>
            <a:off x="5211961" y="4705350"/>
            <a:ext cx="17679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Finds best numbers to divide patient groups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7551688" y="4191000"/>
            <a:ext cx="33531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7886700" y="4095750"/>
            <a:ext cx="131817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the Tree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7437090" y="4705350"/>
            <a:ext cx="176778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Keeps making new questions and branches until it can guess well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9773096" y="4191000"/>
            <a:ext cx="32831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10104686" y="4095750"/>
            <a:ext cx="132531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it Better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9662071" y="4705350"/>
            <a:ext cx="176792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Makes the tree simpler so it doesn't make mistakes on new patients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381000" y="657225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10893028" y="657225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10 of 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28800"/>
            <a:ext cx="3555950" cy="1695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812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085975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1828800"/>
            <a:ext cx="3555950" cy="1695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0350" y="19812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89413" y="208597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6301" y="1828800"/>
            <a:ext cx="3556099" cy="1695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8701" y="19812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7763" y="2085975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676650"/>
            <a:ext cx="3555950" cy="1905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82905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4875" y="393382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17950" y="3676650"/>
            <a:ext cx="3555950" cy="1905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0350" y="382905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3225" y="393382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26301" y="3676650"/>
            <a:ext cx="3556099" cy="1905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78701" y="4210050"/>
            <a:ext cx="3248025" cy="1219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Settings for Our Decision Tree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09600" y="13335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set special rules to make sure our tree works well and doesn't make mistakes on new patients.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352550" y="2085975"/>
            <a:ext cx="20225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Tree Depth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762000" y="2571750"/>
            <a:ext cx="3901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Maximum 5 nodes deep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762000" y="2914650"/>
            <a:ext cx="3251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the tree from being too big and making too many mistakes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5060900" y="2085975"/>
            <a:ext cx="16857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Gini Impurity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4470350" y="2571750"/>
            <a:ext cx="3901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Chooses the best questions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4470350" y="2914650"/>
            <a:ext cx="3251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the tree split patient groups correctly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8769251" y="2085975"/>
            <a:ext cx="22352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Samples per Leaf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8178701" y="2571750"/>
            <a:ext cx="39015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Minimum 10 patients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8178701" y="2914650"/>
            <a:ext cx="32512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final group must have at least 10 patients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352550" y="3933825"/>
            <a:ext cx="22717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762000" y="4419600"/>
            <a:ext cx="3901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Chooses important details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762000" y="4762500"/>
            <a:ext cx="32511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select which patient details are most important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5060900" y="3933825"/>
            <a:ext cx="18759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Regularization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4470350" y="4419600"/>
            <a:ext cx="3901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overfitting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4470350" y="4762500"/>
            <a:ext cx="39013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the tree work well on new patients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9085064" y="3829050"/>
            <a:ext cx="17261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11 of 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45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90700"/>
            <a:ext cx="3048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895475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476500"/>
            <a:ext cx="2667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581275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1623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670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848100"/>
            <a:ext cx="32385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952875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4457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1790700"/>
            <a:ext cx="4762500" cy="2857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We Found in Our Tests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609600" y="13335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Findings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1028700" y="1790700"/>
            <a:ext cx="4724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 were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more correct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(87%) than Fuzzy Logic (74%)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990600" y="2476500"/>
            <a:ext cx="4762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 were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(2.3 times) than Fuzzy Logic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1028700" y="3162300"/>
            <a:ext cx="47244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 had better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recall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(89%) than Fuzzy Logic (71%)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1047750" y="3848100"/>
            <a:ext cx="47053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 had better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precision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(86.8%) than Fuzzy Logic (80.1%)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7625804" y="1333500"/>
            <a:ext cx="33236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Accuracy Comparison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6384072" y="4800600"/>
            <a:ext cx="52531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Trees were </a:t>
            </a:r>
            <a:r>
              <a:rPr lang="en-US" sz="135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6.7% better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than Fuzzy Logic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384072" y="5067300"/>
            <a:ext cx="52531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difference was important and not by chance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25" name="Text 10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12 of 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19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90700"/>
            <a:ext cx="4762500" cy="2857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6561" y="48577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5422" y="48577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419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819275"/>
            <a:ext cx="433834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0493" y="19240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466975"/>
            <a:ext cx="462558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4929" y="25717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114675"/>
            <a:ext cx="411956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8678" y="3219450"/>
            <a:ext cx="1524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7338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1775" y="38385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43243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1775" y="4429125"/>
            <a:ext cx="190500" cy="2667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Comparing System Performance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609600" y="13335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Metrics Comparison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2005161" y="4800600"/>
            <a:ext cx="13699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3604022" y="4800600"/>
            <a:ext cx="11785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6438900" y="13335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24" name="Text 5"/>
          <p:cNvSpPr/>
          <p:nvPr/>
        </p:nvSpPr>
        <p:spPr>
          <a:xfrm>
            <a:off x="7025134" y="1790700"/>
            <a:ext cx="455726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had better precision (86.8% vs 80.1%)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7053858" y="2438400"/>
            <a:ext cx="4528542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had better recall (88.2% vs 81.5%)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7003256" y="3086100"/>
            <a:ext cx="4579144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was better by about 6.7% in both metrics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7067550" y="3838575"/>
            <a:ext cx="47384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made fewer wrong guesses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7067550" y="4429125"/>
            <a:ext cx="50968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Difference was important and not by chance</a:t>
            </a:r>
            <a:endParaRPr lang="en-US" sz="1500" dirty="0"/>
          </a:p>
        </p:txBody>
      </p:sp>
      <p:sp>
        <p:nvSpPr>
          <p:cNvPr id="29" name="Text 10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13 of 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62075"/>
            <a:ext cx="411361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43" y="1466850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193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3" y="2124075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64795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663" y="275272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766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381375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333500"/>
            <a:ext cx="5372100" cy="2381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210050"/>
            <a:ext cx="109728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4391025"/>
            <a:ext cx="133350" cy="1714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Fast Are the Predictions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173361" y="1333500"/>
            <a:ext cx="4808339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Both systems make decisions in less than 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milliseconds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238250" y="2124075"/>
            <a:ext cx="5173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They can work on normal hospital computers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238250" y="2752725"/>
            <a:ext cx="45425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They can handle many patients at once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1238250" y="3381375"/>
            <a:ext cx="52888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Almost all decisions (99.7%) are made quickly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5673090" y="3790950"/>
            <a:ext cx="64465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Processing Time Comparison (milliseconds)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971550" y="4362450"/>
            <a:ext cx="1280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 enough for doctors!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Doctors can get help right away with these systems.</a:t>
            </a:r>
            <a:endParaRPr lang="en-US" sz="1350" dirty="0"/>
          </a:p>
        </p:txBody>
      </p:sp>
      <p:sp>
        <p:nvSpPr>
          <p:cNvPr id="23" name="Text 7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24" name="Text 8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14 of 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52600"/>
            <a:ext cx="7620000" cy="2857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625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7625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2768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276850"/>
            <a:ext cx="152400" cy="2667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Accuracy Results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609600" y="1333500"/>
            <a:ext cx="13167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tests showed that the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system was much more accurate than the </a:t>
            </a:r>
            <a:r>
              <a:rPr lang="en-US" sz="150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system.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895350" y="4762500"/>
            <a:ext cx="29910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Tree: </a:t>
            </a:r>
            <a:r>
              <a:rPr lang="en-US" sz="135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87%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accuracy</a:t>
            </a:r>
            <a:endParaRPr lang="en-US" sz="1350" dirty="0"/>
          </a:p>
        </p:txBody>
      </p:sp>
      <p:sp>
        <p:nvSpPr>
          <p:cNvPr id="13" name="Text 3"/>
          <p:cNvSpPr/>
          <p:nvPr/>
        </p:nvSpPr>
        <p:spPr>
          <a:xfrm>
            <a:off x="6457950" y="4762500"/>
            <a:ext cx="27994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Logic: </a:t>
            </a:r>
            <a:r>
              <a:rPr lang="en-US" sz="135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74%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accuracy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895350" y="5276850"/>
            <a:ext cx="40399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 better at finding patterns</a:t>
            </a:r>
            <a:endParaRPr lang="en-US" sz="1350" dirty="0"/>
          </a:p>
        </p:txBody>
      </p:sp>
      <p:sp>
        <p:nvSpPr>
          <p:cNvPr id="15" name="Text 5"/>
          <p:cNvSpPr/>
          <p:nvPr/>
        </p:nvSpPr>
        <p:spPr>
          <a:xfrm>
            <a:off x="6419850" y="5276850"/>
            <a:ext cx="44351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Difference: </a:t>
            </a:r>
            <a:r>
              <a:rPr lang="en-US" sz="1350" b="1" dirty="0">
                <a:solidFill>
                  <a:srgbClr val="7B341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6.25%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(statistically significant)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</a:t>
            </a:r>
            <a:r>
              <a:rPr lang="en-US" sz="1050" dirty="0" smtClean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</a:t>
            </a:r>
            <a:endParaRPr lang="en-US" sz="1050" dirty="0"/>
          </a:p>
        </p:txBody>
      </p:sp>
      <p:sp>
        <p:nvSpPr>
          <p:cNvPr id="17" name="Text 7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15 of 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695950" cy="5257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5621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6764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03835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2152650"/>
            <a:ext cx="1143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5146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2628900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299085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1051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0" y="952500"/>
            <a:ext cx="5695950" cy="3448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1562100"/>
            <a:ext cx="53149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009775"/>
            <a:ext cx="15240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314575"/>
            <a:ext cx="15240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619375"/>
            <a:ext cx="15240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8450" y="2924175"/>
            <a:ext cx="152400" cy="171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0" y="4514850"/>
            <a:ext cx="5695950" cy="1695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1750" y="5143500"/>
            <a:ext cx="270897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90720" y="5143500"/>
            <a:ext cx="260598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750" y="5581650"/>
            <a:ext cx="5314950" cy="3810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Easy to Understand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495300" y="1143000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Fuzzy Logic is Easy to Understand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990600" y="1619250"/>
            <a:ext cx="4826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natural language doctors can understand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990600" y="2095500"/>
            <a:ext cx="411783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like doctors think, not just yes/no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990600" y="2571750"/>
            <a:ext cx="43064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patients understand their diagnosis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990600" y="3048000"/>
            <a:ext cx="37952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can see how it makes its choices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6381750" y="1143000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Fuzzy Logic Explains Decisions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6496050" y="1676400"/>
            <a:ext cx="5086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6877050" y="198120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Input: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Temperature = 39°C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6877050" y="228600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Logic: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"Temperature is High"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6877050" y="259080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Rule: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IF Temperature is High THEN Health is Poor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6877050" y="2895600"/>
            <a:ext cx="5920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Output:</a:t>
            </a:r>
            <a:r>
              <a:rPr lang="en-US" sz="135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"Diagnosis: Likely Flu"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381750" y="4705350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 vs. Traditional Systems</a:t>
            </a:r>
            <a:endParaRPr lang="en-US" sz="1800" dirty="0"/>
          </a:p>
        </p:txBody>
      </p:sp>
      <p:sp>
        <p:nvSpPr>
          <p:cNvPr id="36" name="Text 13"/>
          <p:cNvSpPr/>
          <p:nvPr/>
        </p:nvSpPr>
        <p:spPr>
          <a:xfrm>
            <a:off x="6381750" y="5143500"/>
            <a:ext cx="270897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8830121" y="5143500"/>
            <a:ext cx="31271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Systems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6110853" y="5581650"/>
            <a:ext cx="3250763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to understand explanations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8830121" y="5581650"/>
            <a:ext cx="312717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Hard to understand 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304800" y="63627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</a:t>
            </a:r>
            <a:r>
              <a:rPr lang="en-US" sz="1050" dirty="0" smtClean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upport </a:t>
            </a: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10969228" y="63627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16 of 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90700"/>
            <a:ext cx="51435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2479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95600"/>
            <a:ext cx="5143500" cy="1619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352800"/>
            <a:ext cx="483870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01955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04900"/>
            <a:ext cx="5600700" cy="495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790700"/>
            <a:ext cx="276225" cy="419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1866900"/>
            <a:ext cx="1238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2400300"/>
            <a:ext cx="390525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247650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09900"/>
            <a:ext cx="32385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5100" y="308610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38900" y="3695700"/>
            <a:ext cx="5143500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4000500"/>
            <a:ext cx="171450" cy="3048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Dealing with Unclear Information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609600" y="13335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Systems vs. Fuzzy Logic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762000" y="1943100"/>
            <a:ext cx="2038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Systems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4406950" y="1943100"/>
            <a:ext cx="143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Yes/No Answers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162050" y="2305050"/>
            <a:ext cx="28576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two answers: true or false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762000" y="3048000"/>
            <a:ext cx="11860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4336554" y="3048000"/>
            <a:ext cx="15169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Degrees of Truth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762000" y="3714750"/>
            <a:ext cx="96512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0.0 Not true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2511623" y="3714750"/>
            <a:ext cx="1531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0.5 Somewhat true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4733330" y="3714750"/>
            <a:ext cx="10406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1.0 Very true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1162050" y="4076700"/>
            <a:ext cx="34857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Many answers between false and true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438900" y="1333500"/>
            <a:ext cx="6172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Fuzzy Logic Helps Doctors</a:t>
            </a:r>
            <a:endParaRPr lang="en-US" sz="1800" dirty="0"/>
          </a:p>
        </p:txBody>
      </p:sp>
      <p:sp>
        <p:nvSpPr>
          <p:cNvPr id="31" name="Text 12"/>
          <p:cNvSpPr/>
          <p:nvPr/>
        </p:nvSpPr>
        <p:spPr>
          <a:xfrm>
            <a:off x="6829425" y="1790700"/>
            <a:ext cx="3177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Temperature Notes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6829425" y="2019300"/>
            <a:ext cx="31775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"High fever" instead of just "fever"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6943725" y="2400300"/>
            <a:ext cx="395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Lung Measurements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943725" y="2628900"/>
            <a:ext cx="39599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"Partially blocked" instead of just "blocked"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6877050" y="3009900"/>
            <a:ext cx="34221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Like Doctors Think</a:t>
            </a:r>
            <a:endParaRPr lang="en-US" sz="1200" dirty="0"/>
          </a:p>
        </p:txBody>
      </p:sp>
      <p:sp>
        <p:nvSpPr>
          <p:cNvPr id="36" name="Text 17"/>
          <p:cNvSpPr/>
          <p:nvPr/>
        </p:nvSpPr>
        <p:spPr>
          <a:xfrm>
            <a:off x="6877050" y="3238500"/>
            <a:ext cx="41065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like how doctors understand medicine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6838950" y="3810000"/>
            <a:ext cx="46291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Did you know?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Fuzzy Logic uses math tools called "membership functions" to decide how much something belongs to a group.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9" name="Text 20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17 of 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5715000" cy="3124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04900"/>
            <a:ext cx="57150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9708" y="12573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9050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2860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6670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0480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543300"/>
            <a:ext cx="5334000" cy="495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104900"/>
            <a:ext cx="57150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0737" y="1257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19050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22860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26670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30480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3543300"/>
            <a:ext cx="5334000" cy="495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 and Bad Points of Each System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2561183" y="1257300"/>
            <a:ext cx="20713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76300" y="1905000"/>
            <a:ext cx="56828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Very correct in finding sicknesses (87% accuracy)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876300" y="2286000"/>
            <a:ext cx="4409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well with different types of data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876300" y="2667000"/>
            <a:ext cx="333577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Needs more computer power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876300" y="3048000"/>
            <a:ext cx="43082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make mistakes with unclear data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685800" y="3657600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for: Clear, organized data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8383637" y="1257300"/>
            <a:ext cx="177897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C1D9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Fuzzy Logic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6591300" y="1905000"/>
            <a:ext cx="35334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to understand with words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591300" y="2286000"/>
            <a:ext cx="439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at handling unclear information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591300" y="2667000"/>
            <a:ext cx="34388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Less accurate (74% accuracy)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591300" y="3048000"/>
            <a:ext cx="41973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have trouble with complex rules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6400800" y="3657600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for: Information that is not exact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18 of 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11430000" cy="502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5391150" cy="114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859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590675"/>
            <a:ext cx="1714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333500"/>
            <a:ext cx="539115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4859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2238" y="1590675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667000"/>
            <a:ext cx="539115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8194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2924175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2667000"/>
            <a:ext cx="5391150" cy="1143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3650" y="2819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2713" y="2924175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1063" y="4257675"/>
            <a:ext cx="23812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Study Limitations and Problems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390650" y="14859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Data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390650" y="1790700"/>
            <a:ext cx="4457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used information from </a:t>
            </a:r>
            <a:r>
              <a:rPr lang="en-US" sz="1350" dirty="0" smtClean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</a:t>
            </a:r>
            <a:r>
              <a:rPr lang="en-US" sz="1350" dirty="0" smtClean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 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patients. This might not be enough for all types of patients.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6972300" y="14859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Sicknesses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6972300" y="1790700"/>
            <a:ext cx="4457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looked at common sicknesses. Did not test very rare or complex sicknesses.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1390650" y="2819400"/>
            <a:ext cx="5349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Real Hospital Test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390650" y="3124200"/>
            <a:ext cx="4457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Tested the system in a lab, not in a real hospital with real doctors and patients.</a:t>
            </a:r>
            <a:endParaRPr lang="en-US" sz="1350" dirty="0"/>
          </a:p>
        </p:txBody>
      </p:sp>
      <p:sp>
        <p:nvSpPr>
          <p:cNvPr id="27" name="Text 7"/>
          <p:cNvSpPr/>
          <p:nvPr/>
        </p:nvSpPr>
        <p:spPr>
          <a:xfrm>
            <a:off x="6972300" y="2819400"/>
            <a:ext cx="5349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One Type of Patient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972300" y="3124200"/>
            <a:ext cx="4457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patient data was from cities. This might not work for people in the countryside.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</a:t>
            </a:r>
            <a:r>
              <a:rPr lang="en-US" sz="1050" dirty="0" smtClean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19 of 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600700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62075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907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3" y="1895475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41935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663" y="2524125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048000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152775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67665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663" y="3781425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104900"/>
            <a:ext cx="5600700" cy="396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362075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7500" y="27813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7500" y="32004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7500" y="361950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5219700"/>
            <a:ext cx="560070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7869" y="5422174"/>
            <a:ext cx="142875" cy="190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D6A4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Plans and Conclusions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942975" y="13335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Future Plans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238250" y="1895475"/>
            <a:ext cx="368153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the system in real hospitals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238250" y="2524125"/>
            <a:ext cx="500098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Get more patient data from different places</a:t>
            </a:r>
            <a:endParaRPr lang="en-US" sz="1500" dirty="0"/>
          </a:p>
        </p:txBody>
      </p:sp>
      <p:sp>
        <p:nvSpPr>
          <p:cNvPr id="25" name="Text 4"/>
          <p:cNvSpPr/>
          <p:nvPr/>
        </p:nvSpPr>
        <p:spPr>
          <a:xfrm>
            <a:off x="1238250" y="3152775"/>
            <a:ext cx="40947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AI systems safer for everyone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238250" y="3781425"/>
            <a:ext cx="44312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easy-to-use screens for doctors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6743700" y="1333500"/>
            <a:ext cx="514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Our Conclusion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438900" y="1790700"/>
            <a:ext cx="51435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computer systems help doctors diagnose patients better.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6438900" y="2438400"/>
            <a:ext cx="6172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systems should be: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6972300" y="2781300"/>
            <a:ext cx="35350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Easy for doctors to understand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972300" y="3200400"/>
            <a:ext cx="30387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real patient data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7019925" y="3619500"/>
            <a:ext cx="31959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Fair and safe for all patients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413659" y="5418364"/>
            <a:ext cx="52959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Future success needs more data, mixed AI methods, and real hospital testing.</a:t>
            </a:r>
            <a:endParaRPr lang="en-US" sz="1500" dirty="0"/>
          </a:p>
        </p:txBody>
      </p:sp>
      <p:sp>
        <p:nvSpPr>
          <p:cNvPr id="34" name="Text 13"/>
          <p:cNvSpPr/>
          <p:nvPr/>
        </p:nvSpPr>
        <p:spPr>
          <a:xfrm>
            <a:off x="381000" y="6286500"/>
            <a:ext cx="350490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Medical Diagnosis Decision Support System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10893028" y="6286500"/>
            <a:ext cx="11015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20 of 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1646</Words>
  <Application>Microsoft Office PowerPoint</Application>
  <PresentationFormat>Grand écran</PresentationFormat>
  <Paragraphs>304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Montserrat</vt:lpstr>
      <vt:lpstr>ui-sans-serif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8</cp:revision>
  <dcterms:created xsi:type="dcterms:W3CDTF">2026-01-13T17:31:51Z</dcterms:created>
  <dcterms:modified xsi:type="dcterms:W3CDTF">2026-01-30T15:24:33Z</dcterms:modified>
</cp:coreProperties>
</file>